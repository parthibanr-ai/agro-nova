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1280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4D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91840"/>
            <a:ext cx="5943600" cy="5943600"/>
          </a:xfrm>
          <a:prstGeom prst="ellipse">
            <a:avLst/>
          </a:prstGeom>
          <a:ln w="15875">
            <a:solidFill>
              <a:srgbClr val="6E9B5E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4206240"/>
            <a:ext cx="4114800" cy="4114800"/>
          </a:xfrm>
          <a:prstGeom prst="ellipse">
            <a:avLst/>
          </a:prstGeom>
          <a:ln w="15875">
            <a:solidFill>
              <a:srgbClr val="D98E3B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1188720"/>
            <a:ext cx="1371600" cy="1371600"/>
          </a:xfrm>
          <a:prstGeom prst="ellipse">
            <a:avLst/>
          </a:prstGeom>
          <a:solidFill>
            <a:srgbClr val="D98E3B"/>
          </a:solidFill>
          <a:ln/>
          <a:effectLst>
            <a:outerShdw blurRad="127000" dist="38100" dir="5400000" algn="bl" rotWithShape="0">
              <a:srgbClr val="1B1B1B">
                <a:alpha val="28000"/>
              </a:srgbClr>
            </a:outerShdw>
          </a:effectLst>
        </p:spPr>
      </p:sp>
      <p:pic>
        <p:nvPicPr>
          <p:cNvPr id="5" name="Image 0" descr="C:\Users\Parthi\AppData\Local\Temp\claude\d--AgriN\5ee36992-e935-4119-bb5c-4beda06c1384\scratchpad\agronova-ppt\icons\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8420" y="1531620"/>
            <a:ext cx="685800" cy="685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E9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REGENERATIVE AGRICULTURAL INTELLIGENCE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651760"/>
            <a:ext cx="8412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 Nova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1605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assistant that walks a smallholder farmer from plot to harvest — soil, weather, diagnosis, crop choice and government support, in their own language.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5257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8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 → Brazil · Russia · China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56235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national rollout, four countries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389120" y="5257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8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languages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389120" y="56235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Indian languages + Portuguese, Russian, Chinese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5257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8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 · iOS · Web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001000" y="56235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Flutter codebase, every device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AGRO NOVA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Smallholder farmers carry expert-level risk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none of the expert-level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514600"/>
            <a:ext cx="3474720" cy="3246120"/>
          </a:xfrm>
          <a:prstGeom prst="roundRect">
            <a:avLst>
              <a:gd name="adj" fmla="val 3380"/>
            </a:avLst>
          </a:prstGeom>
          <a:solidFill>
            <a:srgbClr val="F4F5F0"/>
          </a:solidFill>
          <a:ln/>
          <a:effectLst>
            <a:outerShdw blurRad="127000" dist="38100" dir="5400000" algn="bl" rotWithShape="0">
              <a:srgbClr val="1B1B1B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788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advice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42900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labs, weather bulletins, extension officers and input dealers each see one slice of the farm — nobody sees the whole plot.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80560" y="2514600"/>
            <a:ext cx="3474720" cy="3246120"/>
          </a:xfrm>
          <a:prstGeom prst="roundRect">
            <a:avLst>
              <a:gd name="adj" fmla="val 3380"/>
            </a:avLst>
          </a:prstGeom>
          <a:solidFill>
            <a:srgbClr val="F4F5F0"/>
          </a:solidFill>
          <a:ln/>
          <a:effectLst>
            <a:outerShdw blurRad="127000" dist="38100" dir="5400000" algn="bl" rotWithShape="0">
              <a:srgbClr val="1B1B1B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754880" y="2788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 by guesswork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342900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yellowing leaf can be nutrient deficiency, pest or disease. Wrong guesses mean wasted chemicals and lost yield.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83880" y="2514600"/>
            <a:ext cx="3474720" cy="3246120"/>
          </a:xfrm>
          <a:prstGeom prst="roundRect">
            <a:avLst>
              <a:gd name="adj" fmla="val 3380"/>
            </a:avLst>
          </a:prstGeom>
          <a:solidFill>
            <a:srgbClr val="F4F5F0"/>
          </a:solidFill>
          <a:ln/>
          <a:effectLst>
            <a:outerShdw blurRad="127000" dist="38100" dir="5400000" algn="bl" rotWithShape="0">
              <a:srgbClr val="1B1B1B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58200" y="2788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that doesn't reach them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58200" y="342900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schemes, subsidies and weather alerts exist, but rarely arrive in the right language at the right moment.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989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 Nova puts a single, plot-aware assistant in the farmer's pocket — grounded in real soil, satellite and weather data, and available even offline.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 NOVA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412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journey, from first tap to harvest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440180" y="3246120"/>
            <a:ext cx="9326880" cy="0"/>
          </a:xfrm>
          <a:prstGeom prst="line">
            <a:avLst/>
          </a:prstGeom>
          <a:noFill/>
          <a:ln w="25400">
            <a:solidFill>
              <a:srgbClr val="6E9B5E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388620" y="2720340"/>
            <a:ext cx="1051560" cy="1051560"/>
          </a:xfrm>
          <a:prstGeom prst="ellipse">
            <a:avLst/>
          </a:prstGeom>
          <a:solidFill>
            <a:srgbClr val="D98E3B"/>
          </a:solidFill>
          <a:ln/>
          <a:effectLst>
            <a:outerShdw blurRad="127000" dist="38100" dir="5400000" algn="bl" rotWithShape="0">
              <a:srgbClr val="1B1B1B">
                <a:alpha val="28000"/>
              </a:srgbClr>
            </a:outerShdw>
          </a:effectLst>
        </p:spPr>
      </p:sp>
      <p:pic>
        <p:nvPicPr>
          <p:cNvPr id="6" name="Image 0" descr="C:\Users\Parthi\AppData\Local\Temp\claude\d--AgriN\5ee36992-e935-4119-bb5c-4beda06c1384\scratchpad\agronova-ppt\icons\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" y="2983230"/>
            <a:ext cx="525780" cy="5257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6132" y="239115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1440" y="39547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the plot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91440" y="44577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Tap, GPS or search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64308" y="2720340"/>
            <a:ext cx="1051560" cy="1051560"/>
          </a:xfrm>
          <a:prstGeom prst="ellipse">
            <a:avLst/>
          </a:prstGeom>
          <a:solidFill>
            <a:srgbClr val="6E9B5E"/>
          </a:solidFill>
          <a:ln/>
          <a:effectLst>
            <a:outerShdw blurRad="127000" dist="38100" dir="5400000" algn="bl" rotWithShape="0">
              <a:srgbClr val="1B1B1B">
                <a:alpha val="28000"/>
              </a:srgbClr>
            </a:outerShdw>
          </a:effectLst>
        </p:spPr>
      </p:sp>
      <p:pic>
        <p:nvPicPr>
          <p:cNvPr id="11" name="Image 1" descr="C:\Users\Parthi\AppData\Local\Temp\claude\d--AgriN\5ee36992-e935-4119-bb5c-4beda06c1384\scratchpad\agronova-ppt\icons\so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7198" y="2983230"/>
            <a:ext cx="525780" cy="5257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131820" y="239115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2121408" y="39547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soil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2121408" y="44577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SoilGrids + samples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39996" y="2720340"/>
            <a:ext cx="1051560" cy="1051560"/>
          </a:xfrm>
          <a:prstGeom prst="ellipse">
            <a:avLst/>
          </a:prstGeom>
          <a:solidFill>
            <a:srgbClr val="D98E3B"/>
          </a:solidFill>
          <a:ln/>
          <a:effectLst>
            <a:outerShdw blurRad="127000" dist="38100" dir="5400000" algn="bl" rotWithShape="0">
              <a:srgbClr val="1B1B1B">
                <a:alpha val="28000"/>
              </a:srgbClr>
            </a:outerShdw>
          </a:effectLst>
        </p:spPr>
      </p:sp>
      <p:pic>
        <p:nvPicPr>
          <p:cNvPr id="16" name="Image 2" descr="C:\Users\Parthi\AppData\Local\Temp\claude\d--AgriN\5ee36992-e935-4119-bb5c-4beda06c1384\scratchpad\agronova-ppt\icons\weath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2886" y="2983230"/>
            <a:ext cx="525780" cy="5257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207508" y="239115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197096" y="39547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sky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4197096" y="44577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+ satellite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615684" y="2720340"/>
            <a:ext cx="1051560" cy="1051560"/>
          </a:xfrm>
          <a:prstGeom prst="ellipse">
            <a:avLst/>
          </a:prstGeom>
          <a:solidFill>
            <a:srgbClr val="6E9B5E"/>
          </a:solidFill>
          <a:ln/>
          <a:effectLst>
            <a:outerShdw blurRad="127000" dist="38100" dir="5400000" algn="bl" rotWithShape="0">
              <a:srgbClr val="1B1B1B">
                <a:alpha val="28000"/>
              </a:srgbClr>
            </a:outerShdw>
          </a:effectLst>
        </p:spPr>
      </p:sp>
      <p:pic>
        <p:nvPicPr>
          <p:cNvPr id="21" name="Image 3" descr="C:\Users\Parthi\AppData\Local\Temp\claude\d--AgriN\5ee36992-e935-4119-bb5c-4beda06c1384\scratchpad\agronova-ppt\icons\diagnosi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8574" y="2983230"/>
            <a:ext cx="525780" cy="5257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83196" y="239115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6272784" y="39547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6272784" y="44577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 on a leaf photo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8691372" y="2720340"/>
            <a:ext cx="1051560" cy="1051560"/>
          </a:xfrm>
          <a:prstGeom prst="ellipse">
            <a:avLst/>
          </a:prstGeom>
          <a:solidFill>
            <a:srgbClr val="D98E3B"/>
          </a:solidFill>
          <a:ln/>
          <a:effectLst>
            <a:outerShdw blurRad="127000" dist="38100" dir="5400000" algn="bl" rotWithShape="0">
              <a:srgbClr val="1B1B1B">
                <a:alpha val="28000"/>
              </a:srgbClr>
            </a:outerShdw>
          </a:effectLst>
        </p:spPr>
      </p:sp>
      <p:pic>
        <p:nvPicPr>
          <p:cNvPr id="26" name="Image 4" descr="C:\Users\Parthi\AppData\Local\Temp\claude\d--AgriN\5ee36992-e935-4119-bb5c-4beda06c1384\scratchpad\agronova-ppt\icons\gro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4262" y="2983230"/>
            <a:ext cx="525780" cy="5257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358884" y="239115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8348472" y="39547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what's next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8348472" y="44577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Season-ready crop picks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10767060" y="2720340"/>
            <a:ext cx="1051560" cy="1051560"/>
          </a:xfrm>
          <a:prstGeom prst="ellipse">
            <a:avLst/>
          </a:prstGeom>
          <a:solidFill>
            <a:srgbClr val="6E9B5E"/>
          </a:solidFill>
          <a:ln/>
          <a:effectLst>
            <a:outerShdw blurRad="127000" dist="38100" dir="5400000" algn="bl" rotWithShape="0">
              <a:srgbClr val="1B1B1B">
                <a:alpha val="28000"/>
              </a:srgbClr>
            </a:outerShdw>
          </a:effectLst>
        </p:spPr>
      </p:sp>
      <p:pic>
        <p:nvPicPr>
          <p:cNvPr id="31" name="Image 5" descr="C:\Users\Parthi\AppData\Local\Temp\claude\d--AgriN\5ee36992-e935-4119-bb5c-4beda06c1384\scratchpad\agronova-ppt\icons\scheme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29950" y="2983230"/>
            <a:ext cx="525780" cy="5257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1434572" y="239115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10362895" y="39547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supported</a:t>
            </a:r>
            <a:endParaRPr lang="en-US" sz="1250" dirty="0"/>
          </a:p>
        </p:txBody>
      </p:sp>
      <p:sp>
        <p:nvSpPr>
          <p:cNvPr id="34" name="Text 26"/>
          <p:cNvSpPr txBox="1"/>
          <p:nvPr/>
        </p:nvSpPr>
        <p:spPr>
          <a:xfrm>
            <a:off x="10362895" y="44577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Schemes, alerts, jobs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 NOVA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F4D2C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" y="868680"/>
            <a:ext cx="1371600" cy="1371600"/>
          </a:xfrm>
          <a:prstGeom prst="ellipse">
            <a:avLst/>
          </a:prstGeom>
          <a:solidFill>
            <a:srgbClr val="D98E3B"/>
          </a:solidFill>
          <a:ln/>
          <a:effectLst>
            <a:outerShdw blurRad="127000" dist="38100" dir="5400000" algn="bl" rotWithShape="0">
              <a:srgbClr val="1B1B1B">
                <a:alpha val="28000"/>
              </a:srgbClr>
            </a:outerShdw>
          </a:effectLst>
        </p:spPr>
      </p:sp>
      <p:pic>
        <p:nvPicPr>
          <p:cNvPr id="4" name="Image 0" descr="C:\Users\Parthi\AppData\Local\Temp\claude\d--AgriN\5ee36992-e935-4119-bb5c-4beda06c1384\scratchpad\agronova-ppt\icons\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121158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2331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01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26974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 Capture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70916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Shapely + pyproj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57607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shape, area and country validation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160520" y="59436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recommendation starts with a precise, validated field boundary.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160520" y="1837944"/>
            <a:ext cx="128016" cy="12801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434840" y="170992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to mark a plot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434840" y="2020824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map, drop a GPS pin, type coordinates, or search a place — whichever suits the farmer and the signal.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160520" y="2862072"/>
            <a:ext cx="128016" cy="12801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434840" y="273405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Validated, not just drawn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4434840" y="3044952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checks shape, area and country against the polygon before it becomes the plot of record.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160520" y="3886200"/>
            <a:ext cx="128016" cy="12801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434840" y="375818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anchor for everything else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4434840" y="406908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Soil, weather, satellite and crop advice are all pulled for this exact geometry, not a generic district average.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 NOVA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F4D2C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" y="868680"/>
            <a:ext cx="1371600" cy="1371600"/>
          </a:xfrm>
          <a:prstGeom prst="ellipse">
            <a:avLst/>
          </a:prstGeom>
          <a:solidFill>
            <a:srgbClr val="6E9B5E"/>
          </a:solidFill>
          <a:ln/>
          <a:effectLst>
            <a:outerShdw blurRad="127000" dist="38100" dir="5400000" algn="bl" rotWithShape="0">
              <a:srgbClr val="1B1B1B">
                <a:alpha val="28000"/>
              </a:srgbClr>
            </a:outerShdw>
          </a:effectLst>
        </p:spPr>
      </p:sp>
      <p:pic>
        <p:nvPicPr>
          <p:cNvPr id="4" name="Image 0" descr="C:\Users\Parthi\AppData\Local\Temp\claude\d--AgriN\5ee36992-e935-4119-bb5c-4beda06c1384\scratchpad\agronova-ppt\icons\so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121158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2331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02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26974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Soil Intelligence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70916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ISRIC SoilGrids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57607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global soil data, free at any plot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160520" y="59436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data first, ground truth whenever it's available.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160520" y="1837944"/>
            <a:ext cx="128016" cy="12801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434840" y="170992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public baseline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434840" y="2020824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ISRIC SoilGrids gives every plot a soil profile the moment it's mapped — no lab visit required to get started.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160520" y="2862072"/>
            <a:ext cx="128016" cy="12801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434840" y="273405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for real samples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4434840" y="3044952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can enter government or lab test values against a GPS point, sharpening the picture over time.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160520" y="3886200"/>
            <a:ext cx="128016" cy="12801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434840" y="375818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 to better data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4434840" y="406908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explains how and where to get soil tested locally, closing the loop between public and ground data.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 NOVA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F4D2C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" y="868680"/>
            <a:ext cx="1371600" cy="1371600"/>
          </a:xfrm>
          <a:prstGeom prst="ellipse">
            <a:avLst/>
          </a:prstGeom>
          <a:solidFill>
            <a:srgbClr val="D98E3B"/>
          </a:solidFill>
          <a:ln/>
          <a:effectLst>
            <a:outerShdw blurRad="127000" dist="38100" dir="5400000" algn="bl" rotWithShape="0">
              <a:srgbClr val="1B1B1B">
                <a:alpha val="28000"/>
              </a:srgbClr>
            </a:outerShdw>
          </a:effectLst>
        </p:spPr>
      </p:sp>
      <p:pic>
        <p:nvPicPr>
          <p:cNvPr id="4" name="Image 0" descr="C:\Users\Parthi\AppData\Local\Temp\claude\d--AgriN\5ee36992-e935-4119-bb5c-4beda06c1384\scratchpad\agronova-ppt\icons\weath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121158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2331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03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26974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&amp; Climate Outlook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70916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satellites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57607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CHIRPS · ERA5-Land · SMAP via Google Earth Engine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160520" y="59436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crop-specific outlook, not a generic weather app.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160520" y="1837944"/>
            <a:ext cx="128016" cy="12801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434840" y="170992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meets satellite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434840" y="2020824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10-day forecast is layered with NDVI, rainfall-against-normal and soil moisture from Earth Engine.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160520" y="2862072"/>
            <a:ext cx="128016" cy="12801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434840" y="273405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gracefully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4434840" y="3044952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steps in automatically if Earth Engine or another source is unavailable — the farmer always sees an outlook.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160520" y="3886200"/>
            <a:ext cx="128016" cy="12801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434840" y="375818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Niño / La Niña aware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4434840" y="406908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ENSO effects are factored in per country, so the outlook reflects the season the farmer is actually in.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 NOVA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F4D2C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" y="868680"/>
            <a:ext cx="1371600" cy="1371600"/>
          </a:xfrm>
          <a:prstGeom prst="ellipse">
            <a:avLst/>
          </a:prstGeom>
          <a:solidFill>
            <a:srgbClr val="6E9B5E"/>
          </a:solidFill>
          <a:ln/>
          <a:effectLst>
            <a:outerShdw blurRad="127000" dist="38100" dir="5400000" algn="bl" rotWithShape="0">
              <a:srgbClr val="1B1B1B">
                <a:alpha val="28000"/>
              </a:srgbClr>
            </a:outerShdw>
          </a:effectLst>
        </p:spPr>
      </p:sp>
      <p:pic>
        <p:nvPicPr>
          <p:cNvPr id="4" name="Image 0" descr="C:\Users\Parthi\AppData\Local\Temp\claude\d--AgriN\5ee36992-e935-4119-bb5c-4beda06c1384\scratchpad\agronova-ppt\icons\diagno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121158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2331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04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26974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Plant Diagnosis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70916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3-way AI fallback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57607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→ Anthropic → Gemini, whichever answers first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160520" y="59436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leaf photo becomes a diagnosis and an organic remedy in one step.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160520" y="1837944"/>
            <a:ext cx="128016" cy="12801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434840" y="170992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Vision-model triage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434840" y="2020824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 of a leaf is read by whichever configured AI vision model is available and answers first.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160520" y="2862072"/>
            <a:ext cx="128016" cy="12801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434840" y="273405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Deficiency, pest or disease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4434840" y="3044952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identifies the likely cause — the hardest call for a farmer to make from symptoms alone.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160520" y="3886200"/>
            <a:ext cx="128016" cy="12801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434840" y="375818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remedy, explained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4434840" y="406908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steps come with a plain explanation of why organic outperforms chemical for that case.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 NOVA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F4D2C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" y="868680"/>
            <a:ext cx="1371600" cy="1371600"/>
          </a:xfrm>
          <a:prstGeom prst="ellipse">
            <a:avLst/>
          </a:prstGeom>
          <a:solidFill>
            <a:srgbClr val="D98E3B"/>
          </a:solidFill>
          <a:ln/>
          <a:effectLst>
            <a:outerShdw blurRad="127000" dist="38100" dir="5400000" algn="bl" rotWithShape="0">
              <a:srgbClr val="1B1B1B">
                <a:alpha val="28000"/>
              </a:srgbClr>
            </a:outerShdw>
          </a:effectLst>
        </p:spPr>
      </p:sp>
      <p:pic>
        <p:nvPicPr>
          <p:cNvPr id="4" name="Image 0" descr="C:\Users\Parthi\AppData\Local\Temp\claude\d--AgriN\5ee36992-e935-4119-bb5c-4beda06c1384\scratchpad\agronova-ppt\icons\g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121158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2331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05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26974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Grow Next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70916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Kharif · Rabi · Zaid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57607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tied to the next local sowing season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160520" y="59436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 choice grounded in the plot, not a generic almanac.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160520" y="1837944"/>
            <a:ext cx="128016" cy="12801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434840" y="170992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signals, one recommendation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434840" y="2020824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 combine the plot's soil, satellite data, ENSO state and location.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160520" y="2862072"/>
            <a:ext cx="128016" cy="12801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434840" y="273405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Season-aware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4434840" y="3044952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target the next local sowing window — Kharif, Rabi, Zaid and equivalents in other countries.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160520" y="3886200"/>
            <a:ext cx="128016" cy="12801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434840" y="375818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travel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4434840" y="406908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reasoning extends beyond India's seasons as the app reaches Brazil, Russia and China.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 NOVA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Resilience, Water &amp; Value Addition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4173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generic guide for every farm, plus an AI section personalised to this plot, crop and livestock.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4F5F0"/>
          </a:solidFill>
          <a:ln/>
          <a:effectLst>
            <a:outerShdw blurRad="127000" dist="38100" dir="5400000" algn="bl" rotWithShape="0">
              <a:srgbClr val="1B1B1B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20140" y="2697480"/>
            <a:ext cx="868680" cy="868680"/>
          </a:xfrm>
          <a:prstGeom prst="ellipse">
            <a:avLst/>
          </a:prstGeom>
          <a:solidFill>
            <a:srgbClr val="1F4D2C"/>
          </a:solidFill>
          <a:ln/>
          <a:effectLst>
            <a:outerShdw blurRad="127000" dist="38100" dir="5400000" algn="bl" rotWithShape="0">
              <a:srgbClr val="1B1B1B">
                <a:alpha val="28000"/>
              </a:srgbClr>
            </a:outerShdw>
          </a:effectLst>
        </p:spPr>
      </p:sp>
      <p:pic>
        <p:nvPicPr>
          <p:cNvPr id="7" name="Image 0" descr="C:\Users\Parthi\AppData\Local\Temp\claude\d--AgriN\5ee36992-e935-4119-bb5c-4beda06c1384\scratchpad\agronova-ppt\icons\comp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310" y="2914650"/>
            <a:ext cx="434340" cy="4343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148840" y="24688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2148840" y="2862072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manage on-farm compost to restore soil organic matter.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26480" y="214884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4F5F0"/>
          </a:solidFill>
          <a:ln/>
          <a:effectLst>
            <a:outerShdw blurRad="127000" dist="38100" dir="5400000" algn="bl" rotWithShape="0">
              <a:srgbClr val="1B1B1B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69380" y="2697480"/>
            <a:ext cx="868680" cy="868680"/>
          </a:xfrm>
          <a:prstGeom prst="ellipse">
            <a:avLst/>
          </a:prstGeom>
          <a:solidFill>
            <a:srgbClr val="6E9B5E"/>
          </a:solidFill>
          <a:ln/>
          <a:effectLst>
            <a:outerShdw blurRad="127000" dist="38100" dir="5400000" algn="bl" rotWithShape="0">
              <a:srgbClr val="1B1B1B">
                <a:alpha val="28000"/>
              </a:srgbClr>
            </a:outerShdw>
          </a:effectLst>
        </p:spPr>
      </p:sp>
      <p:pic>
        <p:nvPicPr>
          <p:cNvPr id="12" name="Image 1" descr="C:\Users\Parthi\AppData\Local\Temp\claude\d--AgriN\5ee36992-e935-4119-bb5c-4beda06c1384\scratchpad\agronova-ppt\icons\biog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550" y="2914650"/>
            <a:ext cx="434340" cy="4343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98080" y="24688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Biogas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498080" y="2862072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farm and livestock waste into household cooking fuel.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77240" y="438912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4F5F0"/>
          </a:solidFill>
          <a:ln/>
          <a:effectLst>
            <a:outerShdw blurRad="127000" dist="38100" dir="5400000" algn="bl" rotWithShape="0">
              <a:srgbClr val="1B1B1B">
                <a:alpha val="2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120140" y="4937760"/>
            <a:ext cx="868680" cy="868680"/>
          </a:xfrm>
          <a:prstGeom prst="ellipse">
            <a:avLst/>
          </a:prstGeom>
          <a:solidFill>
            <a:srgbClr val="1F4D2C"/>
          </a:solidFill>
          <a:ln/>
          <a:effectLst>
            <a:outerShdw blurRad="127000" dist="38100" dir="5400000" algn="bl" rotWithShape="0">
              <a:srgbClr val="1B1B1B">
                <a:alpha val="28000"/>
              </a:srgbClr>
            </a:outerShdw>
          </a:effectLst>
        </p:spPr>
      </p:sp>
      <p:pic>
        <p:nvPicPr>
          <p:cNvPr id="17" name="Image 2" descr="C:\Users\Parthi\AppData\Local\Temp\claude\d--AgriN\5ee36992-e935-4119-bb5c-4beda06c1384\scratchpad\agronova-ppt\icons\c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7310" y="5154930"/>
            <a:ext cx="434340" cy="4343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2148840" y="47091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Milk &amp; the cow calculator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2148840" y="5102352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guidance plus a calculator sized to the farmer's herd.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126480" y="438912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4F5F0"/>
          </a:solidFill>
          <a:ln/>
          <a:effectLst>
            <a:outerShdw blurRad="127000" dist="38100" dir="5400000" algn="bl" rotWithShape="0">
              <a:srgbClr val="1B1B1B">
                <a:alpha val="2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69380" y="4937760"/>
            <a:ext cx="868680" cy="868680"/>
          </a:xfrm>
          <a:prstGeom prst="ellipse">
            <a:avLst/>
          </a:prstGeom>
          <a:solidFill>
            <a:srgbClr val="6E9B5E"/>
          </a:solidFill>
          <a:ln/>
          <a:effectLst>
            <a:outerShdw blurRad="127000" dist="38100" dir="5400000" algn="bl" rotWithShape="0">
              <a:srgbClr val="1B1B1B">
                <a:alpha val="28000"/>
              </a:srgbClr>
            </a:outerShdw>
          </a:effectLst>
        </p:spPr>
      </p:sp>
      <p:pic>
        <p:nvPicPr>
          <p:cNvPr id="22" name="Image 3" descr="C:\Users\Parthi\AppData\Local\Temp\claude\d--AgriN\5ee36992-e935-4119-bb5c-4beda06c1384\scratchpad\agronova-ppt\icons\wa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6550" y="5154930"/>
            <a:ext cx="434340" cy="43434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498080" y="47091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saving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7498080" y="5102352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tips to cut irrigation waste, personalised to the crop.</a:t>
            </a:r>
            <a:endParaRPr lang="en-US" sz="1150" dirty="0"/>
          </a:p>
        </p:txBody>
      </p:sp>
      <p:sp>
        <p:nvSpPr>
          <p:cNvPr id="25" name="Text 19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 NOVA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F4D2C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" y="868680"/>
            <a:ext cx="1371600" cy="1371600"/>
          </a:xfrm>
          <a:prstGeom prst="ellipse">
            <a:avLst/>
          </a:prstGeom>
          <a:solidFill>
            <a:srgbClr val="6E9B5E"/>
          </a:solidFill>
          <a:ln/>
          <a:effectLst>
            <a:outerShdw blurRad="127000" dist="38100" dir="5400000" algn="bl" rotWithShape="0">
              <a:srgbClr val="1B1B1B">
                <a:alpha val="28000"/>
              </a:srgbClr>
            </a:outerShdw>
          </a:effectLst>
        </p:spPr>
      </p:sp>
      <p:pic>
        <p:nvPicPr>
          <p:cNvPr id="4" name="Image 0" descr="C:\Users\Parthi\AppData\Local\Temp\claude\d--AgriN\5ee36992-e935-4119-bb5c-4beda06c1384\scratchpad\agronova-ppt\icons\sche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121158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2331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07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26974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Schemes &amp; Smart Alerts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70916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FCM push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57607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Scheme, weather and market alerts, tap-to-open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160520" y="59436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support and timely nudges, delivered, not just published.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160520" y="1837944"/>
            <a:ext cx="128016" cy="12801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434840" y="170992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schemes catalogue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434840" y="2020824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schemes and subsidies are catalogued and kept in reach inside the app.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160520" y="2862072"/>
            <a:ext cx="128016" cy="12801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434840" y="273405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kinds of push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4434840" y="3044952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Scheme, weather and market notifications go out through Firebase Cloud Messaging.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160520" y="3886200"/>
            <a:ext cx="128016" cy="12801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434840" y="375818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that finish quietly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4434840" y="406908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AI answers run as background jobs; a farmer who leaves gets a “ready” notification that opens the finished answer.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 NOVA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scale, from day 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5166360" cy="4297680"/>
          </a:xfrm>
          <a:prstGeom prst="roundRect">
            <a:avLst>
              <a:gd name="adj" fmla="val 2553"/>
            </a:avLst>
          </a:prstGeom>
          <a:solidFill>
            <a:srgbClr val="245A34"/>
          </a:solidFill>
          <a:ln/>
        </p:spPr>
      </p:sp>
      <p:sp>
        <p:nvSpPr>
          <p:cNvPr id="5" name="Shape 3"/>
          <p:cNvSpPr/>
          <p:nvPr/>
        </p:nvSpPr>
        <p:spPr>
          <a:xfrm>
            <a:off x="1440180" y="2125980"/>
            <a:ext cx="1051560" cy="1051560"/>
          </a:xfrm>
          <a:prstGeom prst="ellipse">
            <a:avLst/>
          </a:prstGeom>
          <a:solidFill>
            <a:srgbClr val="D98E3B"/>
          </a:solidFill>
          <a:ln/>
          <a:effectLst>
            <a:outerShdw blurRad="127000" dist="38100" dir="5400000" algn="bl" rotWithShape="0">
              <a:srgbClr val="1B1B1B">
                <a:alpha val="28000"/>
              </a:srgbClr>
            </a:outerShdw>
          </a:effectLst>
        </p:spPr>
      </p:sp>
      <p:pic>
        <p:nvPicPr>
          <p:cNvPr id="6" name="Image 0" descr="C:\Users\Parthi\AppData\Local\Temp\claude\d--AgriN\5ee36992-e935-4119-bb5c-4beda06c1384\scratchpad\agronova-ppt\icons\langu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070" y="2388870"/>
            <a:ext cx="525780" cy="5257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651760" y="21488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5200" dirty="0"/>
          </a:p>
        </p:txBody>
      </p:sp>
      <p:sp>
        <p:nvSpPr>
          <p:cNvPr id="8" name="Text 5"/>
          <p:cNvSpPr txBox="1"/>
          <p:nvPr/>
        </p:nvSpPr>
        <p:spPr>
          <a:xfrm>
            <a:off x="2651760" y="2880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356616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Indian languages plus Portuguese, Russian and Chinese — screen labels are built in; for widely used languages the AI writes advice directly in the farmer's language, and the Cloud Translation API covers and caches the rest.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0" y="1783080"/>
            <a:ext cx="5166360" cy="4297680"/>
          </a:xfrm>
          <a:prstGeom prst="roundRect">
            <a:avLst>
              <a:gd name="adj" fmla="val 2553"/>
            </a:avLst>
          </a:prstGeom>
          <a:solidFill>
            <a:srgbClr val="245A34"/>
          </a:solidFill>
          <a:ln/>
        </p:spPr>
      </p:sp>
      <p:sp>
        <p:nvSpPr>
          <p:cNvPr id="11" name="Shape 8"/>
          <p:cNvSpPr/>
          <p:nvPr/>
        </p:nvSpPr>
        <p:spPr>
          <a:xfrm>
            <a:off x="6880860" y="2125980"/>
            <a:ext cx="1051560" cy="1051560"/>
          </a:xfrm>
          <a:prstGeom prst="ellipse">
            <a:avLst/>
          </a:prstGeom>
          <a:solidFill>
            <a:srgbClr val="6E9B5E"/>
          </a:solidFill>
          <a:ln/>
          <a:effectLst>
            <a:outerShdw blurRad="127000" dist="38100" dir="5400000" algn="bl" rotWithShape="0">
              <a:srgbClr val="1B1B1B">
                <a:alpha val="28000"/>
              </a:srgbClr>
            </a:outerShdw>
          </a:effectLst>
        </p:spPr>
      </p:sp>
      <p:pic>
        <p:nvPicPr>
          <p:cNvPr id="12" name="Image 1" descr="C:\Users\Parthi\AppData\Local\Temp\claude\d--AgriN\5ee36992-e935-4119-bb5c-4beda06c1384\scratchpad\agronova-ppt\icons\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0" y="2388870"/>
            <a:ext cx="525780" cy="5257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92440" y="21488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200" dirty="0"/>
          </a:p>
        </p:txBody>
      </p:sp>
      <p:sp>
        <p:nvSpPr>
          <p:cNvPr id="14" name="Text 10"/>
          <p:cNvSpPr txBox="1"/>
          <p:nvPr/>
        </p:nvSpPr>
        <p:spPr>
          <a:xfrm>
            <a:off x="8092440" y="2880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537960" y="356616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Launching for smallholder farmers in India, and built from the ground up to extend to Brazil, Russia and China — the same Flutter code, on Android, iOS and the web.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 NOVA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backend built to stay up and stay honest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5074920" cy="2057400"/>
          </a:xfrm>
          <a:prstGeom prst="roundRect">
            <a:avLst>
              <a:gd name="adj" fmla="val 4444"/>
            </a:avLst>
          </a:prstGeom>
          <a:solidFill>
            <a:srgbClr val="F4F5F0"/>
          </a:solidFill>
          <a:ln/>
          <a:effectLst>
            <a:outerShdw blurRad="127000" dist="38100" dir="5400000" algn="bl" rotWithShape="0">
              <a:srgbClr val="1B1B1B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4420" y="1961388"/>
            <a:ext cx="777240" cy="777240"/>
          </a:xfrm>
          <a:prstGeom prst="ellipse">
            <a:avLst/>
          </a:prstGeom>
          <a:solidFill>
            <a:srgbClr val="1F4D2C"/>
          </a:solidFill>
          <a:ln/>
          <a:effectLst>
            <a:outerShdw blurRad="127000" dist="38100" dir="5400000" algn="bl" rotWithShape="0">
              <a:srgbClr val="1B1B1B">
                <a:alpha val="28000"/>
              </a:srgbClr>
            </a:outerShdw>
          </a:effectLst>
        </p:spPr>
      </p:sp>
      <p:pic>
        <p:nvPicPr>
          <p:cNvPr id="6" name="Image 0" descr="C:\Users\Parthi\AppData\Local\Temp\claude\d--AgriN\5ee36992-e935-4119-bb5c-4beda06c1384\scratchpad\agronova-ppt\icons\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730" y="2155698"/>
            <a:ext cx="388620" cy="3886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11680" y="19659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&amp; data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74320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3.12, FastAPI, Pydantic, SQLAlchemy. SQLite locally, Postgres in production, Alembic migrations. Tested with pytest across SQLite, Postgres and Redis.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26480" y="1691640"/>
            <a:ext cx="5074920" cy="2057400"/>
          </a:xfrm>
          <a:prstGeom prst="roundRect">
            <a:avLst>
              <a:gd name="adj" fmla="val 4444"/>
            </a:avLst>
          </a:prstGeom>
          <a:solidFill>
            <a:srgbClr val="F4F5F0"/>
          </a:solidFill>
          <a:ln/>
          <a:effectLst>
            <a:outerShdw blurRad="127000" dist="38100" dir="5400000" algn="bl" rotWithShape="0">
              <a:srgbClr val="1B1B1B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3660" y="1961388"/>
            <a:ext cx="777240" cy="777240"/>
          </a:xfrm>
          <a:prstGeom prst="ellipse">
            <a:avLst/>
          </a:prstGeom>
          <a:solidFill>
            <a:srgbClr val="D98E3B"/>
          </a:solidFill>
          <a:ln/>
          <a:effectLst>
            <a:outerShdw blurRad="127000" dist="38100" dir="5400000" algn="bl" rotWithShape="0">
              <a:srgbClr val="1B1B1B">
                <a:alpha val="28000"/>
              </a:srgbClr>
            </a:outerShdw>
          </a:effectLst>
        </p:spPr>
      </p:sp>
      <p:pic>
        <p:nvPicPr>
          <p:cNvPr id="11" name="Image 1" descr="C:\Users\Parthi\AppData\Local\Temp\claude\d--AgriN\5ee36992-e935-4119-bb5c-4beda06c1384\scratchpad\agronova-ppt\icons\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970" y="2155698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60920" y="19659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AI, resilient by design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6446520" y="274320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, OpenAI and Anthropic called in a configurable order, each behind retries and a circuit breaker — one answer always gets through.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77240" y="3977640"/>
            <a:ext cx="5074920" cy="2057400"/>
          </a:xfrm>
          <a:prstGeom prst="roundRect">
            <a:avLst>
              <a:gd name="adj" fmla="val 4444"/>
            </a:avLst>
          </a:prstGeom>
          <a:solidFill>
            <a:srgbClr val="F4F5F0"/>
          </a:solidFill>
          <a:ln/>
          <a:effectLst>
            <a:outerShdw blurRad="127000" dist="38100" dir="5400000" algn="bl" rotWithShape="0">
              <a:srgbClr val="1B1B1B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74420" y="4247388"/>
            <a:ext cx="777240" cy="777240"/>
          </a:xfrm>
          <a:prstGeom prst="ellipse">
            <a:avLst/>
          </a:prstGeom>
          <a:solidFill>
            <a:srgbClr val="1F4D2C"/>
          </a:solidFill>
          <a:ln/>
          <a:effectLst>
            <a:outerShdw blurRad="127000" dist="38100" dir="5400000" algn="bl" rotWithShape="0">
              <a:srgbClr val="1B1B1B">
                <a:alpha val="28000"/>
              </a:srgbClr>
            </a:outerShdw>
          </a:effectLst>
        </p:spPr>
      </p:sp>
      <p:pic>
        <p:nvPicPr>
          <p:cNvPr id="16" name="Image 2" descr="C:\Users\Parthi\AppData\Local\Temp\claude\d--AgriN\5ee36992-e935-4119-bb5c-4beda06c1384\scratchpad\agronova-ppt\icons\satell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8730" y="4441698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011680" y="42519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Satellite &amp; scale-out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1097280" y="502920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earthengine-api and firebase-admin power satellite reads; optional Redis shares caches and rate limits; Cloud Tasks runs jobs on any instance; a nightly job precomputes satellite data per plot.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126480" y="3977640"/>
            <a:ext cx="5074920" cy="2057400"/>
          </a:xfrm>
          <a:prstGeom prst="roundRect">
            <a:avLst>
              <a:gd name="adj" fmla="val 4444"/>
            </a:avLst>
          </a:prstGeom>
          <a:solidFill>
            <a:srgbClr val="F4F5F0"/>
          </a:solidFill>
          <a:ln/>
          <a:effectLst>
            <a:outerShdw blurRad="127000" dist="38100" dir="5400000" algn="bl" rotWithShape="0">
              <a:srgbClr val="1B1B1B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23660" y="4247388"/>
            <a:ext cx="777240" cy="777240"/>
          </a:xfrm>
          <a:prstGeom prst="ellipse">
            <a:avLst/>
          </a:prstGeom>
          <a:solidFill>
            <a:srgbClr val="D98E3B"/>
          </a:solidFill>
          <a:ln/>
          <a:effectLst>
            <a:outerShdw blurRad="127000" dist="38100" dir="5400000" algn="bl" rotWithShape="0">
              <a:srgbClr val="1B1B1B">
                <a:alpha val="28000"/>
              </a:srgbClr>
            </a:outerShdw>
          </a:effectLst>
        </p:spPr>
      </p:sp>
      <p:pic>
        <p:nvPicPr>
          <p:cNvPr id="21" name="Image 3" descr="C:\Users\Parthi\AppData\Local\Temp\claude\d--AgriN\5ee36992-e935-4119-bb5c-4beda06c1384\scratchpad\agronova-ppt\icons\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7970" y="4441698"/>
            <a:ext cx="388620" cy="3886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60920" y="425881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 &amp; deploy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6446520" y="502920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metrics, alert rules and a local Grafana dashboard ship with the service, designed to run on Cloud Run.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 NOVA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BY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Private, compliant, and useful without signal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1005840" cy="1005840"/>
          </a:xfrm>
          <a:prstGeom prst="ellipse">
            <a:avLst/>
          </a:prstGeom>
          <a:solidFill>
            <a:srgbClr val="D98E3B"/>
          </a:solidFill>
          <a:ln/>
          <a:effectLst>
            <a:outerShdw blurRad="127000" dist="38100" dir="5400000" algn="bl" rotWithShape="0">
              <a:srgbClr val="1B1B1B">
                <a:alpha val="28000"/>
              </a:srgbClr>
            </a:outerShdw>
          </a:effectLst>
        </p:spPr>
      </p:sp>
      <p:pic>
        <p:nvPicPr>
          <p:cNvPr id="5" name="Image 0" descr="C:\Users\Parthi\AppData\Local\Temp\claude\d--AgriN\5ee36992-e935-4119-bb5c-4beda06c1384\scratchpad\agronova-ppt\icons\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740" y="20802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971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Privacy, DPDP-ready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" y="3529584"/>
            <a:ext cx="109728" cy="10972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24128" y="3383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privacy notice shown up front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" y="4032504"/>
            <a:ext cx="109728" cy="10972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24128" y="3886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consent for plots &amp; farm details, AI advice, and notifications — as India's DPDP Act requires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7240" y="4535424"/>
            <a:ext cx="109728" cy="10972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24128" y="4389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download and erasure on request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77240" y="5038344"/>
            <a:ext cx="109728" cy="10972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24128" y="4892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accounts erased after a set retention period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903720" y="1828800"/>
            <a:ext cx="1005840" cy="1005840"/>
          </a:xfrm>
          <a:prstGeom prst="ellipse">
            <a:avLst/>
          </a:prstGeom>
          <a:solidFill>
            <a:srgbClr val="6E9B5E"/>
          </a:solidFill>
          <a:ln/>
          <a:effectLst>
            <a:outerShdw blurRad="127000" dist="38100" dir="5400000" algn="bl" rotWithShape="0">
              <a:srgbClr val="1B1B1B">
                <a:alpha val="28000"/>
              </a:srgbClr>
            </a:outerShdw>
          </a:effectLst>
        </p:spPr>
      </p:sp>
      <p:pic>
        <p:nvPicPr>
          <p:cNvPr id="16" name="Image 1" descr="C:\Users\Parthi\AppData\Local\Temp\claude\d--AgriN\5ee36992-e935-4119-bb5c-4beda06c1384\scratchpad\agronova-ppt\icons\wif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5180" y="2080260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583680" y="2971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Offline-first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583680" y="3529584"/>
            <a:ext cx="109728" cy="109728"/>
          </a:xfrm>
          <a:prstGeom prst="ellipse">
            <a:avLst/>
          </a:prstGeom>
          <a:solidFill>
            <a:srgbClr val="6E9B5E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830568" y="3383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answers stay visible with no signal at all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583680" y="4032504"/>
            <a:ext cx="109728" cy="109728"/>
          </a:xfrm>
          <a:prstGeom prst="ellipse">
            <a:avLst/>
          </a:prstGeom>
          <a:solidFill>
            <a:srgbClr val="6E9B5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830568" y="3886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and soil samples queue locally and sync later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583680" y="4535424"/>
            <a:ext cx="109728" cy="109728"/>
          </a:xfrm>
          <a:prstGeom prst="ellipse">
            <a:avLst/>
          </a:prstGeom>
          <a:solidFill>
            <a:srgbClr val="6E9B5E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830568" y="4389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is de-duplicated — no repeated submissions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583680" y="5038344"/>
            <a:ext cx="109728" cy="109728"/>
          </a:xfrm>
          <a:prstGeom prst="ellipse">
            <a:avLst/>
          </a:prstGeom>
          <a:solidFill>
            <a:srgbClr val="6E9B5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830568" y="48920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Push-when-ready notifications open the finished answer the moment signal returns</a:t>
            </a:r>
            <a:endParaRPr lang="en-US" sz="1150" dirty="0"/>
          </a:p>
        </p:txBody>
      </p:sp>
      <p:sp>
        <p:nvSpPr>
          <p:cNvPr id="26" name="Text 22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 NOVA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Flutter codebase, every device, fails soft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88720" y="1965960"/>
            <a:ext cx="1554480" cy="1554480"/>
          </a:xfrm>
          <a:prstGeom prst="ellipse">
            <a:avLst/>
          </a:prstGeom>
          <a:solidFill>
            <a:srgbClr val="1F4D2C"/>
          </a:solidFill>
          <a:ln/>
          <a:effectLst>
            <a:outerShdw blurRad="127000" dist="38100" dir="5400000" algn="bl" rotWithShape="0">
              <a:srgbClr val="1B1B1B">
                <a:alpha val="28000"/>
              </a:srgbClr>
            </a:outerShdw>
          </a:effectLst>
        </p:spPr>
      </p:sp>
      <p:pic>
        <p:nvPicPr>
          <p:cNvPr id="5" name="Image 0" descr="C:\Users\Parthi\AppData\Local\Temp\claude\d--AgriN\5ee36992-e935-4119-bb5c-4beda06c1384\scratchpad\agronova-ppt\icons\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340" y="2354580"/>
            <a:ext cx="777240" cy="777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370332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+ Provider, google_maps_flutter, geolocator and image_picker power the map, GPS and camera flows across Android, iOS and the web from a single codebase.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303520" y="1965960"/>
            <a:ext cx="1554480" cy="1554480"/>
          </a:xfrm>
          <a:prstGeom prst="ellipse">
            <a:avLst/>
          </a:prstGeom>
          <a:solidFill>
            <a:srgbClr val="D98E3B"/>
          </a:solidFill>
          <a:ln/>
          <a:effectLst>
            <a:outerShdw blurRad="127000" dist="38100" dir="5400000" algn="bl" rotWithShape="0">
              <a:srgbClr val="1B1B1B">
                <a:alpha val="28000"/>
              </a:srgbClr>
            </a:outerShdw>
          </a:effectLst>
        </p:spPr>
      </p:sp>
      <p:pic>
        <p:nvPicPr>
          <p:cNvPr id="8" name="Image 1" descr="C:\Users\Parthi\AppData\Local\Temp\claude\d--AgriN\5ee36992-e935-4119-bb5c-4beda06c1384\scratchpad\agronova-ppt\icons\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2140" y="2354580"/>
            <a:ext cx="777240" cy="7772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892040" y="370332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Auth, Messaging and App Check, alongside a no-credentials dev login — every Google service is optional and fails soft if unavailable.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9418320" y="1965960"/>
            <a:ext cx="1554480" cy="1554480"/>
          </a:xfrm>
          <a:prstGeom prst="ellipse">
            <a:avLst/>
          </a:prstGeom>
          <a:solidFill>
            <a:srgbClr val="6E9B5E"/>
          </a:solidFill>
          <a:ln/>
          <a:effectLst>
            <a:outerShdw blurRad="127000" dist="38100" dir="5400000" algn="bl" rotWithShape="0">
              <a:srgbClr val="1B1B1B">
                <a:alpha val="28000"/>
              </a:srgbClr>
            </a:outerShdw>
          </a:effectLst>
        </p:spPr>
      </p:sp>
      <p:pic>
        <p:nvPicPr>
          <p:cNvPr id="11" name="Image 2" descr="C:\Users\Parthi\AppData\Local\Temp\claude\d--AgriN\5ee36992-e935-4119-bb5c-4beda06c1384\scratchpad\agronova-ppt\icons\satell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6940" y="2354580"/>
            <a:ext cx="777240" cy="7772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006840" y="370332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Earth Engine to BigQuery pipeline computes climatology today, laying the groundwork for a future Vertex AI seasonal model.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 NOVA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ln w="15875">
            <a:solidFill>
              <a:srgbClr val="6E9B5E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67528" y="1463040"/>
            <a:ext cx="1463040" cy="1463040"/>
          </a:xfrm>
          <a:prstGeom prst="ellipse">
            <a:avLst/>
          </a:prstGeom>
          <a:solidFill>
            <a:srgbClr val="D98E3B"/>
          </a:solidFill>
          <a:ln/>
          <a:effectLst>
            <a:outerShdw blurRad="127000" dist="38100" dir="5400000" algn="bl" rotWithShape="0">
              <a:srgbClr val="1B1B1B">
                <a:alpha val="28000"/>
              </a:srgbClr>
            </a:outerShdw>
          </a:effectLst>
        </p:spPr>
      </p:sp>
      <p:pic>
        <p:nvPicPr>
          <p:cNvPr id="4" name="Image 0" descr="C:\Users\Parthi\AppData\Local\Temp\claude\d--AgriN\5ee36992-e935-4119-bb5c-4beda06c1384\scratchpad\agronova-ppt\icons\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18288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329184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Grown from the plot up.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2194560" y="4114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 Nova — regenerative agricultural intelligence for smallholder farmers, from India to the world.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 NOVA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1388</Words>
  <Application>Microsoft Office PowerPoint</Application>
  <PresentationFormat>Widescreen</PresentationFormat>
  <Paragraphs>196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Parthiban Radhakrishnan</cp:lastModifiedBy>
  <cp:revision>2</cp:revision>
  <dcterms:created xsi:type="dcterms:W3CDTF">2026-09-29T15:52:52Z</dcterms:created>
  <dcterms:modified xsi:type="dcterms:W3CDTF">2026-09-29T15:57:04Z</dcterms:modified>
</cp:coreProperties>
</file>